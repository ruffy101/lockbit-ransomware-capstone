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1695" cy="6858000"/>
  <p:notesSz cx="6858000" cy="9144000"/>
  <p:defaultTextStyle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theme" Target="theme/theme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5B21-E8EE-4505-87E0-7B7F2C3DBBD0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6D5D-A00E-4AA9-84F2-364CBECE0EE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09E6-1126-4CCC-8F95-892B304C12E9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D0F9E-EF7E-4C26-8662-25A73F2263D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082BF-5467-4883-8896-824F7369BC9A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18080-B33E-4073-8615-72D8F5AE8F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6248-C912-41CA-84D9-08E1C7982093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CB9569-04AF-4288-8880-64CE52ABE7A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/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FB636-F4D9-4299-85F9-44D23E27C49C}" type="datetimeFigureOut">
              <a:rPr lang="en-US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33E07-937E-4FED-8300-8912958434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AC346-E4DF-45C0-848B-E2AC5513E0D5}" type="datetimeFigureOut">
              <a:rPr lang="en-US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8B55B-FA15-48BA-860D-0231187503D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0B29E-DC2A-4D67-887F-3BE2DC8489D6}" type="datetimeFigureOut">
              <a:rPr lang="en-US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0EBC0-ADA9-4FA7-889C-9287646BC79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563BD-7186-488E-816C-8F41FA24179F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25AB8-FB3A-479C-8780-0B7E5F586C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02C48-70E8-4C8D-81F4-17FB598144B8}" type="datetimeFigureOut">
              <a:rPr lang="en-US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C29A-6C4F-4141-86E3-1A3E2D58E3A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02B83-4DFE-444B-8222-D5FF1EA6B44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9C649-D3E0-46CB-87C1-67136E4226A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A40F9-1701-4EB4-806D-4ED861E7A003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BE78A-EB3E-401E-81B5-D7F53201DA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DADCF-DC63-475D-8D69-AEBF4EDF3BBC}" type="datetimeFigureOut">
              <a:rPr lang="en-US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731520"/>
            <a:ext cx="1920240" cy="1920240"/>
          </a:xfrm>
          <a:prstGeom prst="ellipse">
            <a:avLst/>
          </a:prstGeom>
          <a:solidFill>
            <a:srgbClr val="18314E"/>
          </a:solidFill>
          <a:ln w="1651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2194560"/>
            <a:ext cx="1554480" cy="1554480"/>
          </a:xfrm>
          <a:prstGeom prst="ellipse">
            <a:avLst/>
          </a:prstGeom>
          <a:solidFill>
            <a:srgbClr val="18314E"/>
          </a:solidFill>
          <a:ln w="1651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931920"/>
            <a:ext cx="1097280" cy="1097280"/>
          </a:xfrm>
          <a:prstGeom prst="ellipse">
            <a:avLst/>
          </a:prstGeom>
          <a:solidFill>
            <a:srgbClr val="18314E"/>
          </a:solidFill>
          <a:ln w="1651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4206240"/>
            <a:ext cx="914400" cy="914400"/>
          </a:xfrm>
          <a:prstGeom prst="ellipse">
            <a:avLst/>
          </a:prstGeom>
          <a:solidFill>
            <a:srgbClr val="18314E"/>
          </a:solidFill>
          <a:ln w="1651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548640"/>
            <a:ext cx="731520" cy="731520"/>
          </a:xfrm>
          <a:prstGeom prst="ellipse">
            <a:avLst/>
          </a:prstGeom>
          <a:solidFill>
            <a:srgbClr val="18314E"/>
          </a:solidFill>
          <a:ln w="1651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144000" y="1737360"/>
            <a:ext cx="731520" cy="822960"/>
          </a:xfrm>
          <a:prstGeom prst="line">
            <a:avLst/>
          </a:prstGeom>
          <a:ln w="1905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595360" y="3017520"/>
            <a:ext cx="1280160" cy="1188720"/>
          </a:xfrm>
          <a:prstGeom prst="line">
            <a:avLst/>
          </a:prstGeom>
          <a:ln w="1905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0" y="4389120"/>
            <a:ext cx="1371600" cy="182880"/>
          </a:xfrm>
          <a:prstGeom prst="line">
            <a:avLst/>
          </a:prstGeom>
          <a:ln w="1905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332720" y="2651760"/>
            <a:ext cx="365760" cy="1645920"/>
          </a:xfrm>
          <a:prstGeom prst="line">
            <a:avLst/>
          </a:prstGeom>
          <a:ln w="1905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09760" y="1005840"/>
            <a:ext cx="548640" cy="91440"/>
          </a:xfrm>
          <a:prstGeom prst="line">
            <a:avLst/>
          </a:prstGeom>
          <a:ln w="1905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749808"/>
            <a:ext cx="6858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DCFDC"/>
                </a:solidFill>
                <a:latin typeface="Aptos"/>
              </a:rPr>
              <a:t>CYBERSECURITY CAPSTONE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17320"/>
            <a:ext cx="7406640" cy="1600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5F8FC"/>
                </a:solidFill>
                <a:latin typeface="Aptos"/>
              </a:rPr>
              <a:t>LOCKBIT</a:t>
            </a:r>
            <a:br>
              <a:rPr sz="3800" b="1" i="0">
                <a:solidFill>
                  <a:srgbClr val="F5F8FC"/>
                </a:solidFill>
                <a:latin typeface="Aptos"/>
              </a:rPr>
            </a:br>
            <a:r>
              <a:rPr sz="3800" b="1" i="0">
                <a:solidFill>
                  <a:srgbClr val="F5F8FC"/>
                </a:solidFill>
                <a:latin typeface="Aptos"/>
              </a:rPr>
              <a:t>RANSOMWARE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46120"/>
            <a:ext cx="6949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AEBFD3"/>
                </a:solidFill>
                <a:latin typeface="Aptos"/>
              </a:rPr>
              <a:t>Analysis of a Ransomware-as-a-Service Threat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4069080"/>
            <a:ext cx="914400" cy="5486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434840"/>
            <a:ext cx="1828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FD3"/>
                </a:solidFill>
                <a:latin typeface="Aptos"/>
              </a:rPr>
              <a:t>Prepared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718304"/>
            <a:ext cx="45720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5F8FC"/>
                </a:solidFill>
                <a:latin typeface="Aptos"/>
              </a:rPr>
              <a:t>AJAYI RAFIU OLAKUNLE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5184648"/>
            <a:ext cx="2743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DCFDC"/>
                </a:solidFill>
                <a:latin typeface="Aptos"/>
              </a:rPr>
              <a:t>October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6245352"/>
            <a:ext cx="6858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AEBFD3"/>
                </a:solidFill>
                <a:latin typeface="Aptos"/>
              </a:rPr>
              <a:t>DEFEND  •  DETECT  •  RESPOND  •  RECOVER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42900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18488"/>
            <a:ext cx="50292" cy="12893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63677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01  |  Context &amp;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311810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Problem, aim, objectives and method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508760"/>
            <a:ext cx="342900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53128" y="1618488"/>
            <a:ext cx="50292" cy="12893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02  |  Threat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75688"/>
            <a:ext cx="311810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LockBit evolution and RaaS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508760"/>
            <a:ext cx="342900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1618488"/>
            <a:ext cx="50292" cy="12893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63677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03  |  Attack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75688"/>
            <a:ext cx="311810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Lifecycle and MITRE ATT&amp;CK mapping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342900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30168"/>
            <a:ext cx="50292" cy="128930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64845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04  |  Practical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087368"/>
            <a:ext cx="311810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Wazuh setup, evidence and findings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520440"/>
            <a:ext cx="342900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3128" y="3630168"/>
            <a:ext cx="50292" cy="128930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364845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05  |  Defence &amp;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87368"/>
            <a:ext cx="311810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Recommendations, limitations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RESEARCH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675120" cy="1097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5F8FC"/>
                </a:solidFill>
                <a:latin typeface="Aptos"/>
              </a:rPr>
              <a:t>This project examines LockBit as an organised ransomware-as-a-service (RaaS) operation and considers how defenders can detect, contain and recover from ransomware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56616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527048"/>
            <a:ext cx="50292" cy="10149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545336"/>
            <a:ext cx="325526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RESEARCH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1984248"/>
            <a:ext cx="325526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Government advisories, law-enforcement announcements and MITRE ATT&amp;CK.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80360"/>
            <a:ext cx="342900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90088"/>
            <a:ext cx="50292" cy="128930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00837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THREAT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47288"/>
            <a:ext cx="311810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Operating model, variants, common intrusion stages and defensive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880360"/>
            <a:ext cx="342900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2990088"/>
            <a:ext cx="50292" cy="128930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300837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PRACTICAL EXERCISE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447288"/>
            <a:ext cx="311810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A controlled Wazuh test recorded privileged command activity and file-change evidence.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880360"/>
            <a:ext cx="3246120" cy="15087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990088"/>
            <a:ext cx="50292" cy="128930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3008376"/>
            <a:ext cx="29352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KEY CAVEAT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447288"/>
            <a:ext cx="2935224" cy="8321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No LockBit malware ran; the simulation did not encrypt data or prove LockBit-specific detection.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983480"/>
            <a:ext cx="106070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endParaRPr sz="1800" b="1" i="0">
              <a:solidFill>
                <a:srgbClr val="2DCFD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Introduction: why ransomware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6629400" cy="286512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FFFF00"/>
                </a:solidFill>
              </a:rPr>
              <a:t>•  Modern ransomware incidents can involve unauthorised access, credential theft, lateral movement and data theft before encryption.</a:t>
            </a:r>
            <a:endParaRPr>
              <a:solidFill>
                <a:srgbClr val="FFFF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FF00"/>
                </a:solidFill>
              </a:rPr>
              <a:t>•  Operational disruption may begin before files are encrypted, particularly when attackers interfere with recovery or steal sensitive data.</a:t>
            </a:r>
            <a:endParaRPr>
              <a:solidFill>
                <a:srgbClr val="FFFF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FF00"/>
                </a:solidFill>
              </a:rPr>
              <a:t>•  LockBit is a useful case study because it combined a recognisable ransomware brand with an affiliate-based service model.</a:t>
            </a:r>
            <a:endParaRPr>
              <a:solidFill>
                <a:srgbClr val="FFFF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FF00"/>
                </a:solidFill>
              </a:rPr>
              <a:t>•  This capstone adopts a defender’s perspective: understand behaviour, evaluate evidence and recommend practical controls.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18120" y="1600200"/>
            <a:ext cx="3383280" cy="132588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709928"/>
            <a:ext cx="50292" cy="110642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2712" y="1728216"/>
            <a:ext cx="30723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DEFENDER’S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712" y="2167128"/>
            <a:ext cx="3072384" cy="6492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What evidence shows an intrusion is progressing—and which controls can interrupt it?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200400"/>
            <a:ext cx="3383280" cy="132588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3310128"/>
            <a:ext cx="50292" cy="110642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3328416"/>
            <a:ext cx="30723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ANALYTICAL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3767328"/>
            <a:ext cx="3072384" cy="6492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Treat alerts as leads to investigate, not automatic proof of malicious activity.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Aim and research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RESEARCH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10058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0292" cy="7863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395043"/>
            <a:ext cx="10387584" cy="353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611812"/>
            <a:ext cx="10387584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5F8FC"/>
                </a:solidFill>
                <a:latin typeface="Aptos"/>
              </a:rPr>
              <a:t>Assess LockBit as a ransomware threat and use the findings to develop practical defensive recommendations.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457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DCFDC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80"/>
            <a:ext cx="9784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Describe LockBit’s development and ransomware-as-a-service business model.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19272"/>
            <a:ext cx="457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DCFDC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319272"/>
            <a:ext cx="9784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Explain the main stages commonly associated with a LockBit intrusion.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41064"/>
            <a:ext cx="457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DCFD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941064"/>
            <a:ext cx="9784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Map representative behaviours to MITRE ATT&amp;CK techniques.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62856"/>
            <a:ext cx="457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DCFDC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62856"/>
            <a:ext cx="9784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Document a controlled Wazuh simulation and interpret its results accurately.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184648"/>
            <a:ext cx="457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DCFDC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184648"/>
            <a:ext cx="978408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Recommend security controls that reduce the likelihood and impact of ransomware incidents.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Methodology and source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RESEARCH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514600" cy="27889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50292" cy="2569463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73936"/>
            <a:ext cx="22037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01  Review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2203704" cy="21122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Prioritise CISA and partner advisories, law-enforcement announcements and MITRE ATT&amp;CK.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645920"/>
            <a:ext cx="2514600" cy="27889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1755648"/>
            <a:ext cx="50292" cy="2569463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3" y="1773936"/>
            <a:ext cx="22037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02  Structure behaviours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2463" y="2212848"/>
            <a:ext cx="2203704" cy="21122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Organise public reporting into a representative intrusion lifecycle and ATT&amp;CK mapping.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645920"/>
            <a:ext cx="2514600" cy="27889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64224" y="1755648"/>
            <a:ext cx="50292" cy="2569463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1773936"/>
            <a:ext cx="22037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03  Run safe lab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2212848"/>
            <a:ext cx="2203704" cy="21122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Use Wazuh to observe benign command and file-change activity in an isolated environment.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0576" y="1645920"/>
            <a:ext cx="2514600" cy="27889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0576" y="1755648"/>
            <a:ext cx="50292" cy="2569463"/>
          </a:xfrm>
          <a:prstGeom prst="rect">
            <a:avLst/>
          </a:prstGeom>
          <a:solidFill>
            <a:srgbClr val="66D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45168" y="1773936"/>
            <a:ext cx="22037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6DAA5"/>
                </a:solidFill>
                <a:latin typeface="Aptos"/>
              </a:rPr>
              <a:t>04  Interpret cautiously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8" y="2212848"/>
            <a:ext cx="2203704" cy="211226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Separate source-reported threat behaviour from events actually observed in the student lab.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106070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DCFDC"/>
                </a:solidFill>
                <a:latin typeface="Aptos"/>
              </a:rPr>
              <a:t>Method: qualitative threat-intelligence analysis + a small, non-destructive endpoint-monitoring exercise.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Threat profile: LockBit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THREAT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667512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5F8FC"/>
                </a:solidFill>
                <a:latin typeface="Aptos"/>
              </a:rPr>
              <a:t>LockBit is a financially motivated ransomware operation associated with the ransomware-as-a-service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6858000" cy="32918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</a:pPr>
            <a:r>
              <a:rPr/>
              <a:t>•  Public reporting describes activity from around 2020 and multiple later versions.</a:t>
            </a:r>
          </a:p>
          <a:p>
            <a:pPr>
              <a:spcAft>
                <a:spcPts val="800"/>
              </a:spcAft>
            </a:pPr>
            <a:r>
              <a:rPr/>
              <a:t>•  Documented variants include LockBit 2.0, LockBit 3.0/Black, LockBit Green, and versions targeting Linux and VMware ESXi.</a:t>
            </a:r>
          </a:p>
          <a:p>
            <a:pPr>
              <a:spcAft>
                <a:spcPts val="800"/>
              </a:spcAft>
            </a:pPr>
            <a:r>
              <a:rPr/>
              <a:t>•  MITRE ATT&amp;CK maintains separate software entries for LockBit 2.0, LockBit 3.0 and the StealBit exfiltration tool.</a:t>
            </a:r>
          </a:p>
          <a:p>
            <a:pPr>
              <a:spcAft>
                <a:spcPts val="800"/>
              </a:spcAft>
            </a:pPr>
            <a:r>
              <a:rPr/>
              <a:t>•  Different affiliates may use different access methods and post-compromise tools.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54480"/>
            <a:ext cx="3200400" cy="12801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1664207"/>
            <a:ext cx="50292" cy="106070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5592" y="1682495"/>
            <a:ext cx="28895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DEFENDER 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121408"/>
            <a:ext cx="2889504" cy="6035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Do not rely only on a malware name or file extension.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3108960"/>
            <a:ext cx="3200400" cy="12801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3218688"/>
            <a:ext cx="50292" cy="10607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3108960"/>
            <a:ext cx="2889504" cy="353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BETTER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3416597"/>
            <a:ext cx="2889504" cy="10241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Correlate suspicious behaviours with identity, process, network and file telemetry.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Evolution and major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THREAT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08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1554480"/>
            <a:ext cx="438912" cy="438912"/>
          </a:xfrm>
          <a:prstGeom prst="ellipse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801368" y="1773936"/>
            <a:ext cx="1764792" cy="0"/>
          </a:xfrm>
          <a:prstGeom prst="line">
            <a:avLst/>
          </a:prstGeom>
          <a:ln w="2540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148840"/>
            <a:ext cx="2331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DCFDC"/>
                </a:solidFill>
                <a:latin typeface="Aptos"/>
              </a:rPr>
              <a:t>~2020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2331720" cy="1463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Public reporting describes LockBit activity emerging.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1554480"/>
            <a:ext cx="438912" cy="438912"/>
          </a:xfrm>
          <a:prstGeom prst="ellipse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590288" y="1773936"/>
            <a:ext cx="1764791" cy="0"/>
          </a:xfrm>
          <a:prstGeom prst="line">
            <a:avLst/>
          </a:prstGeom>
          <a:ln w="2540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66160" y="2148840"/>
            <a:ext cx="2331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DCFDC"/>
                </a:solidFill>
                <a:latin typeface="Aptos"/>
              </a:rPr>
              <a:t>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97480"/>
            <a:ext cx="2331720" cy="1463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LockBit 2.0 appears in the operation’s development.</a:t>
            </a:r>
          </a:p>
        </p:txBody>
      </p:sp>
      <p:sp>
        <p:nvSpPr>
          <p:cNvPr id="16" name="Oval 15"/>
          <p:cNvSpPr/>
          <p:nvPr/>
        </p:nvSpPr>
        <p:spPr>
          <a:xfrm>
            <a:off x="6949440" y="1554480"/>
            <a:ext cx="438912" cy="438912"/>
          </a:xfrm>
          <a:prstGeom prst="ellipse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7379208" y="1773936"/>
            <a:ext cx="1764792" cy="0"/>
          </a:xfrm>
          <a:prstGeom prst="line">
            <a:avLst/>
          </a:prstGeom>
          <a:ln w="25400">
            <a:solidFill>
              <a:srgbClr val="1AA3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55079" y="2148840"/>
            <a:ext cx="2331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DCFDC"/>
                </a:solidFill>
                <a:latin typeface="Aptos"/>
              </a:rPr>
              <a:t>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697480"/>
            <a:ext cx="2331720" cy="1463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LockBit 3.0/Black follows; the builder leak shows code can circulate beyond its originators.</a:t>
            </a:r>
          </a:p>
        </p:txBody>
      </p:sp>
      <p:sp>
        <p:nvSpPr>
          <p:cNvPr id="20" name="Oval 19"/>
          <p:cNvSpPr/>
          <p:nvPr/>
        </p:nvSpPr>
        <p:spPr>
          <a:xfrm>
            <a:off x="9738359" y="1554480"/>
            <a:ext cx="438912" cy="438912"/>
          </a:xfrm>
          <a:prstGeom prst="ellipse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2148840"/>
            <a:ext cx="233172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BE55"/>
                </a:solidFill>
                <a:latin typeface="Aptos"/>
              </a:rPr>
              <a:t>FEB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697480"/>
            <a:ext cx="2331720" cy="1463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Operation Cronos disrupts important infrastructure associated with LockBit.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1042416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AEBFD3"/>
                </a:solidFill>
                <a:latin typeface="Aptos"/>
              </a:rPr>
              <a:t>Reported figures at the time of the 2024 disruption: more than 2,000 victims and over US$120 million in ransom payments, according to the U.S. Department of Justice.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How the ransomware-as-a-service model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THREAT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3657600" cy="16459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18488"/>
            <a:ext cx="50292" cy="142646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36776"/>
            <a:ext cx="33467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CORE 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3346704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5F8FC"/>
                </a:solidFill>
                <a:latin typeface="Aptos"/>
              </a:rPr>
              <a:t>Maintain the ransomware platform, infrastructure and related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508760"/>
            <a:ext cx="3657600" cy="16459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26679" y="1618488"/>
            <a:ext cx="50292" cy="142646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1636776"/>
            <a:ext cx="33467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AFFILIATES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075688"/>
            <a:ext cx="3346704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F5F8FC"/>
                </a:solidFill>
                <a:latin typeface="Aptos"/>
              </a:rPr>
              <a:t>Conduct intrusions and may bring their own access methods and tools.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0560" y="2331720"/>
            <a:ext cx="3154680" cy="0"/>
          </a:xfrm>
          <a:prstGeom prst="line">
            <a:avLst/>
          </a:prstGeom>
          <a:ln w="3810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12080" y="1901952"/>
            <a:ext cx="16459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2DCFDC"/>
                </a:solidFill>
                <a:latin typeface="Aptos"/>
              </a:rPr>
              <a:t>RaaS 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794760"/>
            <a:ext cx="8138160" cy="11887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11680" y="3904488"/>
            <a:ext cx="50292" cy="96926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76272" y="3922776"/>
            <a:ext cx="782726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WHY IT MATTERS TO DEFENDERS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76272" y="4361688"/>
            <a:ext cx="7827264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The same ransomware brand may appear in incidents with different tools and sequences. Investigate combinations of behaviours, context and telemetry rather than attributing an incident from one utility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Representative attack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ATTACK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74720" cy="16916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27048"/>
            <a:ext cx="50292" cy="14721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545336"/>
            <a:ext cx="3163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1  Initial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984248"/>
            <a:ext cx="3163824" cy="10149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Phishing, exposed applications, remote services, valid 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417320"/>
            <a:ext cx="3474720" cy="16916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1527048"/>
            <a:ext cx="50292" cy="147218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545336"/>
            <a:ext cx="3163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2  Execution &amp;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984248"/>
            <a:ext cx="3163824" cy="10149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Shells, scripts, services or other administrative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474720" cy="16916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527048"/>
            <a:ext cx="50292" cy="147218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545336"/>
            <a:ext cx="3163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3  Privilege &amp; evasion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984248"/>
            <a:ext cx="3163824" cy="10149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Credential access, security-setting changes, log interference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39"/>
            <a:ext cx="3474720" cy="16916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30168"/>
            <a:ext cx="50292" cy="147218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648456"/>
            <a:ext cx="3163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4  Discovery &amp; movement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4087368"/>
            <a:ext cx="3163824" cy="10149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Enumerate systems, shares and move between hosts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520439"/>
            <a:ext cx="3474720" cy="16916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3630168"/>
            <a:ext cx="50292" cy="14721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648456"/>
            <a:ext cx="3163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5  Collection &amp; theft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087368"/>
            <a:ext cx="3163824" cy="10149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Archive data and transfer it outside the environment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520439"/>
            <a:ext cx="3474720" cy="16916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75320" y="3630168"/>
            <a:ext cx="50292" cy="147218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3648456"/>
            <a:ext cx="3163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6 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4087368"/>
            <a:ext cx="3163824" cy="10149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Encrypt files, stop services or interfere with 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AEBFD3"/>
                </a:solidFill>
                <a:latin typeface="Aptos"/>
              </a:rPr>
              <a:t>The exact sequence varies by affiliate and victim environment; the stages are a representative analytical model, not a claim that every incident follows every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Lifecycle I: initial access and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ATTACK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166360" cy="14173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27048"/>
            <a:ext cx="50292" cy="119786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45336"/>
            <a:ext cx="485546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INITIAL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4855464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Reported routes include phishing, exploitation of internet-facing applications, external remote services and misuse of valid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166360" cy="14173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27048"/>
            <a:ext cx="50292" cy="119786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545336"/>
            <a:ext cx="485546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EXECUTION &amp; 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84248"/>
            <a:ext cx="4855464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After access, attackers may use command shells, PowerShell, services or administrative functions to run tools and maintain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46120"/>
            <a:ext cx="4572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Representative ATT&amp;CK references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57600"/>
            <a:ext cx="10058400" cy="18694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chemeClr val="accent2"/>
                </a:solidFill>
              </a:rPr>
              <a:t>•  T1566 — Phishing</a:t>
            </a:r>
            <a:endParaRPr>
              <a:solidFill>
                <a:schemeClr val="accent2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chemeClr val="accent2"/>
                </a:solidFill>
              </a:rPr>
              <a:t>•  T1190 — Exploit Public-Facing Application</a:t>
            </a:r>
            <a:endParaRPr>
              <a:solidFill>
                <a:schemeClr val="accent2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chemeClr val="accent2"/>
                </a:solidFill>
              </a:rPr>
              <a:t>•  T1133 — External Remote Services</a:t>
            </a:r>
            <a:endParaRPr>
              <a:solidFill>
                <a:schemeClr val="accent2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chemeClr val="accent2"/>
                </a:solidFill>
              </a:rPr>
              <a:t>•  T1078 — Valid Accounts</a:t>
            </a:r>
            <a:endParaRPr>
              <a:solidFill>
                <a:schemeClr val="accent2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chemeClr val="accent2"/>
                </a:solidFill>
              </a:rPr>
              <a:t>•  T1059.001 / T1059.003 — PowerShell / Windows Command Shell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Lifecycle II: privilege, evasion and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ATTACK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201168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50292" cy="179222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739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Privilege escalation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12848"/>
            <a:ext cx="3118104" cy="13350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Attempts to gain higher privileges or change policy/security settings.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45920"/>
            <a:ext cx="3429000" cy="201168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755648"/>
            <a:ext cx="50292" cy="179222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7739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Defence evasion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212848"/>
            <a:ext cx="3118104" cy="13350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Attempts to impair security tools, clear logs, delete files or obfuscate activity.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429000" cy="201168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755648"/>
            <a:ext cx="50292" cy="179222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17739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212848"/>
            <a:ext cx="3118104" cy="13350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Enumerates system details, files, network services, shares and domain information.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51960"/>
            <a:ext cx="27432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Investigation clues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63440"/>
            <a:ext cx="10332720" cy="1117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Unusual privilege changes or unexpected administrative commands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Security settings changed shortly before other suspicious events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Rapid enumeration of files, hosts, shares or network services</a:t>
            </a:r>
            <a:endParaRPr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Lifecycle III: lateral movement, exfiltration and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ATTACK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9659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27048"/>
            <a:ext cx="50292" cy="17465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453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LATERAL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3118104" cy="1289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RDP, SMB/administrative shares or remote-access tools may be used to move between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9659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27048"/>
            <a:ext cx="50292" cy="174650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5453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COLLECTION &amp; EXFILTRATION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84248"/>
            <a:ext cx="3118104" cy="1289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Look for unusual archive creation, unexpected outbound transfers and abnormal cloud/file-sharing use. StealBit is a documented associated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9659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27048"/>
            <a:ext cx="50292" cy="174650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5453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984248"/>
            <a:ext cx="3118104" cy="1289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Possible behaviours include file encryption, stopping services, deleting logs or inhibiting recovery.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60520"/>
            <a:ext cx="103327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endParaRPr sz="1800" b="1" i="0">
              <a:solidFill>
                <a:srgbClr val="F5F8F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MITRE ATT&amp;CK mapping: access to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ATTACK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371600"/>
            <a:ext cx="2148840" cy="393192"/>
          </a:xfrm>
          <a:prstGeom prst="rect">
            <a:avLst/>
          </a:prstGeom>
          <a:solidFill>
            <a:srgbClr val="1AA3B1"/>
          </a:solidFill>
          <a:ln>
            <a:solidFill>
              <a:srgbClr val="0A1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26464"/>
            <a:ext cx="20116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TACTIC /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371600"/>
            <a:ext cx="2743200" cy="393192"/>
          </a:xfrm>
          <a:prstGeom prst="rect">
            <a:avLst/>
          </a:prstGeom>
          <a:solidFill>
            <a:srgbClr val="1AA3B1"/>
          </a:solidFill>
          <a:ln>
            <a:solidFill>
              <a:srgbClr val="0A1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1426464"/>
            <a:ext cx="260604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ATT&amp;CK IDS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371600"/>
            <a:ext cx="5577840" cy="393192"/>
          </a:xfrm>
          <a:prstGeom prst="rect">
            <a:avLst/>
          </a:prstGeom>
          <a:solidFill>
            <a:srgbClr val="1AA3B1"/>
          </a:solidFill>
          <a:ln>
            <a:solidFill>
              <a:srgbClr val="0A1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426464"/>
            <a:ext cx="5440679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5F8FC"/>
                </a:solidFill>
                <a:latin typeface="Aptos"/>
              </a:rPr>
              <a:t>EXAMPLE BEHAVIOUR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764792"/>
            <a:ext cx="2148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1819656"/>
            <a:ext cx="2002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Initial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1764792"/>
            <a:ext cx="274320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1819656"/>
            <a:ext cx="259689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DCFDC"/>
                </a:solidFill>
                <a:latin typeface="Aptos"/>
              </a:rPr>
              <a:t>T1190; T1133; T1566; T1078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764792"/>
            <a:ext cx="5577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50992" y="1819656"/>
            <a:ext cx="5431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Exploit public-facing app; remote services; phishing; valid accounts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331720"/>
            <a:ext cx="214884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2386584"/>
            <a:ext cx="2002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40" y="2331720"/>
            <a:ext cx="274320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2386584"/>
            <a:ext cx="259689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DCFDC"/>
                </a:solidFill>
                <a:latin typeface="Aptos"/>
              </a:rPr>
              <a:t>T1059.001; T1059.003; T1569.002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2331720"/>
            <a:ext cx="557784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50992" y="2386584"/>
            <a:ext cx="5431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PowerShell; Windows command shell; service execution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2898648"/>
            <a:ext cx="2148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2953512"/>
            <a:ext cx="2002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Persistence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2898648"/>
            <a:ext cx="274320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7792" y="2953512"/>
            <a:ext cx="259689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DCFDC"/>
                </a:solidFill>
                <a:latin typeface="Aptos"/>
              </a:rPr>
              <a:t>T1547; T1078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2898648"/>
            <a:ext cx="5577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2953512"/>
            <a:ext cx="5431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Autostart execution; valid accounts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65576"/>
            <a:ext cx="214884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3520440"/>
            <a:ext cx="2002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Privilege Escalation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40" y="3465576"/>
            <a:ext cx="274320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07792" y="3520440"/>
            <a:ext cx="259689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DCFDC"/>
                </a:solidFill>
                <a:latin typeface="Aptos"/>
              </a:rPr>
              <a:t>T1548.002; T1484.001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77840" y="3465576"/>
            <a:ext cx="557784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3520440"/>
            <a:ext cx="5431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UAC bypass; group policy modification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032504"/>
            <a:ext cx="2148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4087368"/>
            <a:ext cx="2002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Defence Evasion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032504"/>
            <a:ext cx="274320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07792" y="4087368"/>
            <a:ext cx="259689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DCFDC"/>
                </a:solidFill>
                <a:latin typeface="Aptos"/>
              </a:rPr>
              <a:t>T1562.001; T1070.001; T1070.004; T1027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032504"/>
            <a:ext cx="5577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4087368"/>
            <a:ext cx="5431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Impair defences; clear logs; file deletion; obfuscation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" y="4599432"/>
            <a:ext cx="214884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4654296"/>
            <a:ext cx="2002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Credential Access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34640" y="4599432"/>
            <a:ext cx="274320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07792" y="4654296"/>
            <a:ext cx="259689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DCFDC"/>
                </a:solidFill>
                <a:latin typeface="Aptos"/>
              </a:rPr>
              <a:t>T1003; T1003.001; T1555.003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4599432"/>
            <a:ext cx="5577840" cy="566928"/>
          </a:xfrm>
          <a:prstGeom prst="rect">
            <a:avLst/>
          </a:prstGeom>
          <a:solidFill>
            <a:srgbClr val="112742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50992" y="4654296"/>
            <a:ext cx="5431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OS credential dumping; LSASS; browser credentials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" y="5166359"/>
            <a:ext cx="2148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" y="5221223"/>
            <a:ext cx="2002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Discovery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34640" y="5166359"/>
            <a:ext cx="274320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07792" y="5221223"/>
            <a:ext cx="259689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DCFDC"/>
                </a:solidFill>
                <a:latin typeface="Aptos"/>
              </a:rPr>
              <a:t>T1046; T1082; T1083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5166359"/>
            <a:ext cx="5577840" cy="566928"/>
          </a:xfrm>
          <a:prstGeom prst="rect">
            <a:avLst/>
          </a:prstGeom>
          <a:solidFill>
            <a:srgbClr val="18314E"/>
          </a:solidFill>
          <a:ln>
            <a:solidFill>
              <a:srgbClr val="2B43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50992" y="5221223"/>
            <a:ext cx="5431536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F5F8FC"/>
                </a:solidFill>
                <a:latin typeface="Aptos"/>
              </a:rPr>
              <a:t>Network services; system information; file and directory discovery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MITRE ATT&amp;CK mapping: movement to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ATTACK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2743200" cy="896112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64207"/>
            <a:ext cx="50292" cy="676656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82495"/>
            <a:ext cx="24323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Lateral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2432304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749039" y="1645920"/>
            <a:ext cx="24231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DCFDC"/>
                </a:solidFill>
                <a:latin typeface="Aptos"/>
              </a:rPr>
              <a:t>T1021.001; T1021.002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466344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Remote Desktop Protocol; SMB/Windows administrative shares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43200"/>
            <a:ext cx="2743200" cy="896112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852928"/>
            <a:ext cx="50292" cy="676656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871216"/>
            <a:ext cx="24323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Collection / Exfiltration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310128"/>
            <a:ext cx="2432304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749039" y="2834640"/>
            <a:ext cx="24231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DCFDC"/>
                </a:solidFill>
                <a:latin typeface="Aptos"/>
              </a:rPr>
              <a:t>T1560.001; T1567.002; T1005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88920"/>
            <a:ext cx="466344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Archive collected data; exfiltration to cloud storage; local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31920"/>
            <a:ext cx="2743200" cy="896112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041648"/>
            <a:ext cx="50292" cy="676656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059935"/>
            <a:ext cx="24323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4498848"/>
            <a:ext cx="2432304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749039" y="4023359"/>
            <a:ext cx="242316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DCFDC"/>
                </a:solidFill>
                <a:latin typeface="Aptos"/>
              </a:rPr>
              <a:t>T1486; T1490; T1489; T1485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977639"/>
            <a:ext cx="466344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Encrypt data; inhibit system recovery; stop services; destroy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349240"/>
            <a:ext cx="10469880" cy="5943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58968"/>
            <a:ext cx="50292" cy="37490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477255"/>
            <a:ext cx="101589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IMPORTANT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5916168"/>
            <a:ext cx="10158984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Mappings are representative public-reporting references—not proof that each technique occurred in the student lab.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Practical lab: environment and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WAZUH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1060704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F8FC"/>
                </a:solidFill>
                <a:latin typeface="Aptos"/>
              </a:rPr>
              <a:t>A small isolated virtual lab was used to observe benign endpoint activity. No real LockBit malware was executed.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2468880" cy="12801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41448"/>
            <a:ext cx="50292" cy="10607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459736"/>
            <a:ext cx="21579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MACBOOK 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898648"/>
            <a:ext cx="2157984" cy="6035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Runs virtual machines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2560320" cy="12801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441448"/>
            <a:ext cx="50292" cy="106070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2459736"/>
            <a:ext cx="22494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KALI LINUX 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898648"/>
            <a:ext cx="2249424" cy="6035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Wazuh manager / analyst console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2331720"/>
            <a:ext cx="2560320" cy="12801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2441448"/>
            <a:ext cx="50292" cy="106070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2832" y="2459736"/>
            <a:ext cx="22494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UBUNTU 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2898648"/>
            <a:ext cx="2249424" cy="60350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Wazuh agent / test endpoint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37560" y="2971800"/>
            <a:ext cx="1371600" cy="0"/>
          </a:xfrm>
          <a:prstGeom prst="line">
            <a:avLst/>
          </a:prstGeom>
          <a:ln w="3175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60920" y="2971800"/>
            <a:ext cx="1371600" cy="0"/>
          </a:xfrm>
          <a:prstGeom prst="line">
            <a:avLst/>
          </a:prstGeom>
          <a:ln w="31750">
            <a:solidFill>
              <a:srgbClr val="2DCF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251960"/>
            <a:ext cx="1024128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DCFDC"/>
                </a:solidFill>
                <a:latin typeface="Aptos"/>
              </a:rPr>
              <a:t>Observed path: Ubuntu endpoint event → Wazuh agent/log collection → Wazuh manager on Kali → analyst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AEBFD3"/>
                </a:solidFill>
                <a:latin typeface="Aptos"/>
              </a:rPr>
              <a:t>The topology represents the reported lab roles. Confirm addresses and final screenshots against the original exported evidence before submission.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Wazuh simulation: test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WAZUH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17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463040"/>
            <a:ext cx="475488" cy="475488"/>
          </a:xfrm>
          <a:prstGeom prst="ellipse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7548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A172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417320"/>
            <a:ext cx="24688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417320"/>
            <a:ext cx="704088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Use a test directory: /tmp/lockbit-lab.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487168"/>
            <a:ext cx="475488" cy="475488"/>
          </a:xfrm>
          <a:prstGeom prst="ellipse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47548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A172B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441448"/>
            <a:ext cx="24688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Generate benign activity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441448"/>
            <a:ext cx="704088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Copy a test file and apply a simulated filename extension.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511296"/>
            <a:ext cx="475488" cy="475488"/>
          </a:xfrm>
          <a:prstGeom prst="ellipse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75304"/>
            <a:ext cx="47548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A172B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465576"/>
            <a:ext cx="24688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Collect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465576"/>
            <a:ext cx="704088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Wazuh records the privileged command event from the Ubuntu agent.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535424"/>
            <a:ext cx="475488" cy="475488"/>
          </a:xfrm>
          <a:prstGeom prst="ellipse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99432"/>
            <a:ext cx="47548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A172B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89704"/>
            <a:ext cx="24688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Review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489704"/>
            <a:ext cx="704088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Inspect event details and separately check file-integrity monitoring.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532120"/>
            <a:ext cx="10241280" cy="5029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5641848"/>
            <a:ext cx="50292" cy="283464"/>
          </a:xfrm>
          <a:prstGeom prst="rect">
            <a:avLst/>
          </a:prstGeom>
          <a:solidFill>
            <a:srgbClr val="66D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660136"/>
            <a:ext cx="99303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6DAA5"/>
                </a:solidFill>
                <a:latin typeface="Aptos"/>
              </a:rPr>
              <a:t>SAFETY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6099048"/>
            <a:ext cx="9930384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No encryption, data theft or destructive activity was performed; no real data was affected.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Wazuh lab: observed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WAZUH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0292" cy="10149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99616"/>
            <a:ext cx="30723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TIMESTAMP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38528"/>
            <a:ext cx="30723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14 October 2026 • 09:24:29 (UTC+1)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81328"/>
            <a:ext cx="50292" cy="101498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499616"/>
            <a:ext cx="30723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723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Rule 5402: “Successful sudo to ROOT executed” • Level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3832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481328"/>
            <a:ext cx="50292" cy="101498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499616"/>
            <a:ext cx="30723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938528"/>
            <a:ext cx="30723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Ubuntu agent 001 • Wazuh manager on Kali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2194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Recorded command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520440"/>
            <a:ext cx="10652760" cy="777240"/>
          </a:xfrm>
          <a:prstGeom prst="roundRect">
            <a:avLst/>
          </a:prstGeom>
          <a:solidFill>
            <a:srgbClr val="060F1D"/>
          </a:solidFill>
          <a:ln>
            <a:solidFill>
              <a:srgbClr val="1A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30752"/>
            <a:ext cx="1014984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 Mono"/>
              </a:rPr>
              <a:t>/usr/bin/cp /tmp/lockbit-lab/testfile /tmp/lockbit-lab/testfile.lockbit-simulated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17720"/>
            <a:ext cx="10332720" cy="111760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The user `ruffy` ran the copy command with root privileges from `/home/ruffy`.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The event was collected through journald and processed by the Wazuh manager.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The decoder described this as the user’s first recorded sudo use.</a:t>
            </a:r>
            <a:endParaRPr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Lab interpretation: what the evidence proves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WAZUH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5074920" cy="155448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18488"/>
            <a:ext cx="50292" cy="1335024"/>
          </a:xfrm>
          <a:prstGeom prst="rect">
            <a:avLst/>
          </a:prstGeom>
          <a:solidFill>
            <a:srgbClr val="66D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636776"/>
            <a:ext cx="47640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6DAA5"/>
                </a:solidFill>
                <a:latin typeface="Aptos"/>
              </a:rPr>
              <a:t>SUPPORTED BY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75688"/>
            <a:ext cx="4764024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Wazuh recorded privileged command execution. The command copied a test file and added a simulated LockBit-style filename marker.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074920" cy="155448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18488"/>
            <a:ext cx="50292" cy="133502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636776"/>
            <a:ext cx="47640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NOT ESTABLISHED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075688"/>
            <a:ext cx="4764024" cy="8778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The evidence does not show real encryption, a ransom note, data exfiltration, recovery inhibition or a dedicated LockBit detection rule firing.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49039"/>
            <a:ext cx="22860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Analyst conclusion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06240"/>
            <a:ext cx="1024128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5F8FC"/>
                </a:solidFill>
                <a:latin typeface="Aptos"/>
              </a:rPr>
              <a:t>The exercise demonstrates basic event visibility—not detection of the real LockBit malware family. The filename was a simulation indicator, not proof of ransomware.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2870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AEBFD3"/>
                </a:solidFill>
                <a:latin typeface="Aptos"/>
              </a:rPr>
              <a:t>Contextual mappings in the report: T1548.003 (sudo-related elevation mechanism), T1486 (context only; no encryption occurred), and T1078.003 (local account; not inherently malicious).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Implementation challenges and resolutions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WAZUH 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0292" cy="10149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9961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Agent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38528"/>
            <a:ext cx="49011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Ubuntu agent did not start consistently; configuration was reviewed and the service restarted/checked.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52120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0292" cy="101498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49961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Configuration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38528"/>
            <a:ext cx="49011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Edits to ossec.conf caused XML errors; the syscheck section was inspected and corrected.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52120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90088"/>
            <a:ext cx="50292" cy="10149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00837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Missing test directory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47288"/>
            <a:ext cx="49011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Created /tmp/lockbit-lab before generating demonstration files.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880360"/>
            <a:ext cx="52120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990088"/>
            <a:ext cx="50292" cy="101498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300837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File-integrity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447288"/>
            <a:ext cx="49011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Checked configuration and ossec.log, then modified a known file and searched by filename.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52120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498848"/>
            <a:ext cx="50292" cy="101498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51713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Telemetry confusion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956048"/>
            <a:ext cx="49011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Distinguished command logging from a separate file-integrity event.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389120"/>
            <a:ext cx="5212080" cy="123444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498848"/>
            <a:ext cx="50292" cy="101498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51713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Limited 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956048"/>
            <a:ext cx="4901184" cy="5577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Kept the environment small because the host had an Intel Core i5, 8 GB RAM and 256 GB storage.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Project limitations and evidence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1887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81328"/>
            <a:ext cx="50292" cy="96926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9961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No real LockBit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38528"/>
            <a:ext cx="4901184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Only harmless file creation, copying and modification were 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371600"/>
            <a:ext cx="5212080" cy="11887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81328"/>
            <a:ext cx="50292" cy="96926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499616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Limited behaviour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38528"/>
            <a:ext cx="4901184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No credential theft, persistence, lateral movement, exfiltration or backup deletion was tested.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52928"/>
            <a:ext cx="5212080" cy="11887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962656"/>
            <a:ext cx="50292" cy="96926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980944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Intent cannot be inferred from file changes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19856"/>
            <a:ext cx="4901184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Analysts need process, account, timing and surrounding telemetry.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852928"/>
            <a:ext cx="5212080" cy="11887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962656"/>
            <a:ext cx="50292" cy="96926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980944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Detection rules not fully validated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3419856"/>
            <a:ext cx="4901184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The lab did not establish that a high-confidence LockBit-specific rule fired.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34256"/>
            <a:ext cx="5212080" cy="11887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443984"/>
            <a:ext cx="50292" cy="96926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462272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Small isolated environment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901184"/>
            <a:ext cx="4901184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A few VMs and files cannot represent a production enterprise network.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4334256"/>
            <a:ext cx="5212080" cy="11887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4443984"/>
            <a:ext cx="50292" cy="96926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462272"/>
            <a:ext cx="490118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No full incident-response drill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4901184"/>
            <a:ext cx="4901184" cy="5120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5F8FC"/>
                </a:solidFill>
                <a:latin typeface="Aptos"/>
              </a:rPr>
              <a:t>Isolation, forensic imaging, enterprise scoping and backup recovery were discussed, not tested.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Recommendations I: prevent and limit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DEFENSIVE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2331720" cy="8229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27048"/>
            <a:ext cx="50292" cy="6035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545336"/>
            <a:ext cx="2020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984248"/>
            <a:ext cx="2020824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429000" y="1490472"/>
            <a:ext cx="7635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Require phishing-resistant MFA for privileged and externally accessible accounts wherever feasible.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96312"/>
            <a:ext cx="2331720" cy="8229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2606040"/>
            <a:ext cx="50292" cy="6035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624328"/>
            <a:ext cx="2020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Least privilege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063240"/>
            <a:ext cx="2020824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429000" y="2569464"/>
            <a:ext cx="7635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Separate standard user accounts from administrative accounts; grant only required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75304"/>
            <a:ext cx="2331720" cy="8229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685032"/>
            <a:ext cx="50292" cy="60350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703320"/>
            <a:ext cx="2020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Patch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142232"/>
            <a:ext cx="2020824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3429000" y="3648456"/>
            <a:ext cx="7635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Patch internet-facing systems using a documented, risk-based service-level agreement.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654296"/>
            <a:ext cx="2331720" cy="8229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4764024"/>
            <a:ext cx="50292" cy="60350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4782312"/>
            <a:ext cx="202082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Segmentation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221224"/>
            <a:ext cx="2020824" cy="14630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429000" y="4727448"/>
            <a:ext cx="76352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5F8FC"/>
                </a:solidFill>
                <a:latin typeface="Aptos"/>
              </a:rPr>
              <a:t>Separate critical servers, administrative systems, backups and user networks.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Recommendations II: detect, respond and recover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DEFENSIVE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501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24160" cy="251968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Centralise endpoint, authentication, DNS, proxy, firewall and cloud logs so analysts can correlate activity.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Protect endpoint detection tools and backup infrastructure against tampering.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Develop detections for credential access, unusual remote services, defence evasion, suspicious data transfers and rapid file modification.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Run periodic ransomware tabletop exercises; document actions, gaps and follow-up owners.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Test backup restoration regularly—having backups does not prove that recovery will work.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Repeat threat-informed validation after significant changes to systems, identity controls or security tooling.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 flipV="1">
            <a:off x="868680" y="6004593"/>
            <a:ext cx="9930384" cy="353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endParaRPr sz="1600" b="1" i="0">
              <a:solidFill>
                <a:srgbClr val="2DCFD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78992" y="6236208"/>
            <a:ext cx="9930384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5F8FC"/>
                </a:solidFill>
                <a:latin typeface="Aptos"/>
              </a:rPr>
              <a:t>Track time to detect, time to contain, endpoint coverage, privileged-account MFA coverage, patch compliance and restoration-test success.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How this project applies Cyber Threat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CTM CONNECTION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14173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27048"/>
            <a:ext cx="50292" cy="119786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453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THREAT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84248"/>
            <a:ext cx="3118104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Use government advisories and ATT&amp;CK to understand known behaviours.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429000" cy="14173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27048"/>
            <a:ext cx="50292" cy="1197864"/>
          </a:xfrm>
          <a:prstGeom prst="rect">
            <a:avLst/>
          </a:prstGeom>
          <a:solidFill>
            <a:srgbClr val="FFB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5453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BE55"/>
                </a:solidFill>
                <a:latin typeface="Aptos"/>
              </a:rPr>
              <a:t>RISK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84248"/>
            <a:ext cx="3118104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Prioritise high-impact assets, exposed systems, privileged accounts and backups.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17320"/>
            <a:ext cx="3429000" cy="14173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27048"/>
            <a:ext cx="50292" cy="1197864"/>
          </a:xfrm>
          <a:prstGeom prst="rect">
            <a:avLst/>
          </a:prstGeom>
          <a:solidFill>
            <a:srgbClr val="1AA3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54533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AA3B1"/>
                </a:solidFill>
                <a:latin typeface="Aptos"/>
              </a:rPr>
              <a:t>VULNERABILITY &amp;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984248"/>
            <a:ext cx="3118104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Patch, harden, segment and validate security controls.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3520440"/>
            <a:ext cx="3429000" cy="14173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011680" y="3630168"/>
            <a:ext cx="50292" cy="1197864"/>
          </a:xfrm>
          <a:prstGeom prst="rect">
            <a:avLst/>
          </a:prstGeom>
          <a:solidFill>
            <a:srgbClr val="F26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364845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2636B"/>
                </a:solidFill>
                <a:latin typeface="Aptos"/>
              </a:rPr>
              <a:t>DETECTION &amp;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4087368"/>
            <a:ext cx="3118104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Correlate telemetry and investigate activity in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520440"/>
            <a:ext cx="3429000" cy="141732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3630168"/>
            <a:ext cx="50292" cy="1197864"/>
          </a:xfrm>
          <a:prstGeom prst="rect">
            <a:avLst/>
          </a:prstGeom>
          <a:solidFill>
            <a:srgbClr val="66D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648456"/>
            <a:ext cx="311810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6DAA5"/>
                </a:solidFill>
                <a:latin typeface="Aptos"/>
              </a:rPr>
              <a:t>CONTINUOUS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4087368"/>
            <a:ext cx="3118104" cy="7406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5F8FC"/>
                </a:solidFill>
                <a:latin typeface="Aptos"/>
              </a:rPr>
              <a:t>Use lab gaps to improve detection coverage and response readiness.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77840"/>
            <a:ext cx="1014984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2DCFDC"/>
                </a:solidFill>
                <a:latin typeface="Aptos"/>
              </a:rPr>
              <a:t>CTM is a continuous cycle: identify risk → apply controls → monitor → respond → learn and improve.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996696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F5F8FC"/>
                </a:solidFill>
                <a:latin typeface="Aptos"/>
              </a:rPr>
              <a:t>LockBit demonstrates how ransomware can operate as a criminal service rather than a single piece of malware.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0058400" cy="176784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The affiliate model creates variation in access methods and post-compromise behaviour.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Defenders should investigate combinations of identity, endpoint, network and file activity.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The Wazuh lab showed privileged-command visibility but did not demonstrate encryption or LockBit-specific detection.</a:t>
            </a:r>
            <a:endParaRPr>
              <a:solidFill>
                <a:srgbClr val="FFC000"/>
              </a:solidFill>
            </a:endParaRPr>
          </a:p>
          <a:p>
            <a:pPr>
              <a:spcAft>
                <a:spcPts val="800"/>
              </a:spcAft>
            </a:pPr>
            <a:r>
              <a:rPr>
                <a:solidFill>
                  <a:srgbClr val="FFC000"/>
                </a:solidFill>
              </a:rPr>
              <a:t>•  Clear evidence boundaries make the findings more credible and guide the next phase of testing.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4400" y="5349240"/>
            <a:ext cx="10149840" cy="594360"/>
          </a:xfrm>
          <a:prstGeom prst="roundRect">
            <a:avLst/>
          </a:prstGeom>
          <a:solidFill>
            <a:srgbClr val="18314E"/>
          </a:solidFill>
          <a:ln>
            <a:solidFill>
              <a:srgbClr val="2A4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5458968"/>
            <a:ext cx="50292" cy="37490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5477255"/>
            <a:ext cx="9838944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DCFDC"/>
                </a:solidFill>
                <a:latin typeface="Aptos"/>
              </a:rPr>
              <a:t>FINAL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5916168"/>
            <a:ext cx="9838944" cy="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8FC"/>
                </a:solidFill>
                <a:latin typeface="Aptos"/>
              </a:rPr>
              <a:t>Detect behaviour in context. Validate controls safely. Test recovery before an incident.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38912"/>
            <a:ext cx="82296" cy="566928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384048"/>
            <a:ext cx="10789920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5F8FC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987552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183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382512"/>
            <a:ext cx="78638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EBFD3"/>
                </a:solidFill>
                <a:latin typeface="Aptos"/>
              </a:rPr>
              <a:t>CYBERSECURITY CAPSTONE  •  LOCKBIT RANSOMWARE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2DCFDC"/>
                </a:solidFill>
                <a:latin typeface="Apto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 lIns="73152" tIns="54864" rIns="73152" bIns="36576">
            <a:spAutoFit/>
          </a:bodyPr>
          <a:lstStyle/>
          <a:p>
            <a:pPr>
              <a:spcAft>
                <a:spcPts val="700"/>
              </a:spcAft>
            </a:pPr>
            <a:r>
              <a:rPr/>
              <a:t>•  CISA et al. (2023, June 14). Understanding ransomware threat actors: LockBit (AA23-165A). Cybersecurity and Infrastructure Security Agency.</a:t>
            </a:r>
          </a:p>
          <a:p>
            <a:pPr>
              <a:spcAft>
                <a:spcPts val="700"/>
              </a:spcAft>
            </a:pPr>
            <a:r>
              <a:rPr/>
              <a:t>•  Europol. (2024, February 20). Law enforcement disrupts world’s biggest ransomware operation — LockBit was the most deployed ransomware variant across the world.</a:t>
            </a:r>
          </a:p>
          <a:p>
            <a:pPr>
              <a:spcAft>
                <a:spcPts val="700"/>
              </a:spcAft>
            </a:pPr>
            <a:r>
              <a:rPr/>
              <a:t>•  U.S. Department of Justice. (2024a, February 20). U.S. and U.K. disrupt LockBit ransomware variant.</a:t>
            </a:r>
          </a:p>
          <a:p>
            <a:pPr>
              <a:spcAft>
                <a:spcPts val="700"/>
              </a:spcAft>
            </a:pPr>
            <a:r>
              <a:rPr/>
              <a:t>•  U.S. Department of Justice. (2024b, May 7). U.S. charges Russian national with developing and operating LockBit ransomware.</a:t>
            </a:r>
          </a:p>
          <a:p>
            <a:pPr>
              <a:spcAft>
                <a:spcPts val="700"/>
              </a:spcAft>
            </a:pPr>
            <a:r>
              <a:rPr/>
              <a:t>•  MITRE ATT&amp;CK. (2025a). LockBit 2.0 (S1199).</a:t>
            </a:r>
          </a:p>
          <a:p>
            <a:pPr>
              <a:spcAft>
                <a:spcPts val="700"/>
              </a:spcAft>
            </a:pPr>
            <a:r>
              <a:rPr/>
              <a:t>•  MITRE ATT&amp;CK. (2025b). LockBit 3.0 (S1202).</a:t>
            </a:r>
          </a:p>
          <a:p>
            <a:pPr>
              <a:spcAft>
                <a:spcPts val="700"/>
              </a:spcAft>
            </a:pPr>
            <a:r>
              <a:rPr/>
              <a:t>•  MITRE ATT&amp;CK. (2025c). StealBit (S1200).</a:t>
            </a:r>
          </a:p>
          <a:p>
            <a:pPr>
              <a:spcAft>
                <a:spcPts val="700"/>
              </a:spcAft>
            </a:pPr>
            <a:r>
              <a:rPr/>
              <a:t>•  Sophos. (2024). GOLD MYSTIC: Threat profile detail. SophosLabs.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897880"/>
            <a:ext cx="10241280" cy="277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endParaRPr sz="1100" b="0" i="1">
              <a:solidFill>
                <a:srgbClr val="FFBE5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05840"/>
            <a:ext cx="6400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DCFD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685800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5F8FC"/>
                </a:solidFill>
                <a:latin typeface="Aptos"/>
              </a:rP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6949440" cy="7315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AEBFD3"/>
                </a:solidFill>
                <a:latin typeface="Aptos"/>
              </a:rPr>
              <a:t>LockBit Ransomware: Analysis of a Ransomware-as-a-Service Threat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1005840" cy="54864"/>
          </a:xfrm>
          <a:prstGeom prst="rect">
            <a:avLst/>
          </a:prstGeom>
          <a:solidFill>
            <a:srgbClr val="2D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59436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DCFDC"/>
                </a:solidFill>
                <a:latin typeface="Aptos"/>
              </a:rPr>
              <a:t>AJAYI RAFIU OLAKUNLE  •  OCTOBER 2026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914400"/>
            <a:ext cx="2103120" cy="2103120"/>
          </a:xfrm>
          <a:prstGeom prst="ellipse">
            <a:avLst/>
          </a:prstGeom>
          <a:noFill/>
          <a:ln w="1905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2560320"/>
            <a:ext cx="1463040" cy="1463040"/>
          </a:xfrm>
          <a:prstGeom prst="ellipse">
            <a:avLst/>
          </a:prstGeom>
          <a:noFill/>
          <a:ln w="1905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0" y="4206240"/>
            <a:ext cx="914400" cy="914400"/>
          </a:xfrm>
          <a:prstGeom prst="ellipse">
            <a:avLst/>
          </a:prstGeom>
          <a:noFill/>
          <a:ln w="1905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0" y="4480560"/>
            <a:ext cx="640080" cy="640080"/>
          </a:xfrm>
          <a:prstGeom prst="ellipse">
            <a:avLst/>
          </a:prstGeom>
          <a:noFill/>
          <a:ln w="19050">
            <a:solidFill>
              <a:srgbClr val="2D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27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LockBit Ransomware: Analysis of a Ransomware-as-a-Service Threat</dc:title>
  <dc:subject>Cybersecurity Capstone Presentation</dc:subject>
  <dc:creator>Ajayi Rafiu Olakunle</dc:creator>
  <cp:keywords>LockBit, ransomware, cybersecurity, Wazuh, MITRE ATT&amp;CK, CTM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</cp:coreProperties>
</file>